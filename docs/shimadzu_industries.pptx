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1371600"/>
            <a:ext cx="5943600" cy="5943600"/>
          </a:xfrm>
          <a:prstGeom prst="ellipse">
            <a:avLst/>
          </a:prstGeom>
          <a:solidFill>
            <a:srgbClr val="0055A5">
              <a:alpha val="20000"/>
            </a:srgbClr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00AEEF">
              <a:alpha val="12000"/>
            </a:srgbClr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Shimadzu Scientific Korea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시마즈 응용 분야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AE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종합 안내서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Shimadzu Application Industries Guide  |  9개 핵심 산업 분야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55A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681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 분석 기술로 산업 혁신을 선도하다  |  1875년 설립  |  100개국 이상 공급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8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9대 핵심 산업 분야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914400"/>
          </a:xfrm>
          <a:prstGeom prst="rect">
            <a:avLst/>
          </a:prstGeom>
          <a:solidFill>
            <a:srgbClr val="0077B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" cy="9144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914400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102412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142646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651760" cy="914400"/>
          </a:xfrm>
          <a:prstGeom prst="rect">
            <a:avLst/>
          </a:prstGeom>
          <a:solidFill>
            <a:srgbClr val="0096C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14400"/>
            <a:ext cx="411480" cy="9144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172968" y="914400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0168" y="102412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제약 / 바이오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0168" y="142646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&amp; Bio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9320" y="914400"/>
            <a:ext cx="2651760" cy="91440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914400"/>
            <a:ext cx="411480" cy="9144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007608" y="914400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64808" y="1024128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식품 / 음료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64808" y="142646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993392"/>
            <a:ext cx="2651760" cy="9144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993392"/>
            <a:ext cx="411480" cy="9144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" y="1993392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" y="21031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화장품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5528" y="250545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&amp; Personal Care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1993392"/>
            <a:ext cx="2651760" cy="914400"/>
          </a:xfrm>
          <a:prstGeom prst="rect">
            <a:avLst/>
          </a:prstGeom>
          <a:solidFill>
            <a:srgbClr val="00649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1993392"/>
            <a:ext cx="411480" cy="9144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172968" y="1993392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0168" y="21031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산업 소재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30168" y="250545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Materials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89320" y="1993392"/>
            <a:ext cx="2651760" cy="914400"/>
          </a:xfrm>
          <a:prstGeom prst="rect">
            <a:avLst/>
          </a:prstGeom>
          <a:solidFill>
            <a:srgbClr val="023E8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1993392"/>
            <a:ext cx="411480" cy="9144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007608" y="1993392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64808" y="21031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2차 전지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64808" y="2505456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Battery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072384"/>
            <a:ext cx="2651760" cy="914400"/>
          </a:xfrm>
          <a:prstGeom prst="rect">
            <a:avLst/>
          </a:prstGeom>
          <a:solidFill>
            <a:srgbClr val="1B4F7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3072384"/>
            <a:ext cx="411480" cy="9144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" y="3072384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95528" y="318211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전자 / 기기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95528" y="358444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Devices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154680" y="3072384"/>
            <a:ext cx="2651760" cy="914400"/>
          </a:xfrm>
          <a:prstGeom prst="rect">
            <a:avLst/>
          </a:prstGeom>
          <a:solidFill>
            <a:srgbClr val="1543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54680" y="3072384"/>
            <a:ext cx="411480" cy="9144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172968" y="3072384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630168" y="318211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화학 제품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630168" y="358444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Products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89320" y="3072384"/>
            <a:ext cx="2651760" cy="914400"/>
          </a:xfrm>
          <a:prstGeom prst="rect">
            <a:avLst/>
          </a:prstGeom>
          <a:solidFill>
            <a:srgbClr val="0E665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89320" y="3072384"/>
            <a:ext cx="411480" cy="9144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007608" y="3072384"/>
            <a:ext cx="402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64808" y="3182112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라이프 사이언스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464808" y="358444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모니터링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6583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73152" cy="6400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298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대기·수질·토양 전 분야의 오염 물질 정밀 감시. 국가 수질 TMS, PFAS·미세플라스틱 혁신 분석법, VOC·온실가스 모니터링까지 토털 솔루션 제공.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응용 분야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수질 TMS – TOC-4200K로 방류수 실시간 자동 측정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무기음이온 분석 – HIC-ESP 이온크로마토그래피 (EPA 300.1)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정밀 분석 – LC-MS/MS + PFAS-free 전용 키트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미세플라스틱 정량 – Py-GCMS 기반 해양 오염 평가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대기 VOCs – GC-MS/MS MRM 모드, 0.1 ppb 감도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온실가스(GHG) – BID(Tracera GC) 헬륨 플라스마 검출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수소 연료 불순물 – SF₆ 절연가스 분해 산물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토양 중금속 – 규제 기준 준수 ICP-OES 분석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2331720"/>
            <a:ext cx="0" cy="17830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453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기기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54480" y="4663440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45312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TOC-4200K, HIC-ESP, LC-MS/MS (LCMS-9030), GC-MS/MS, Tracera GC (BID), ICP-OES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55A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제약 / 바이오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6583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&amp; Bio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73152" cy="640080"/>
          </a:xfrm>
          <a:prstGeom prst="rect">
            <a:avLst/>
          </a:prstGeom>
          <a:solidFill>
            <a:srgbClr val="0055A5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298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가이드라인·GMP 규정 준수 분석 워크플로우. 저분자 의약품 불순물 관리부터 단일클론항체(mAb)·바이오 의약품 분석까지 전 과정 지원.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응용 분야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니트로사민 불순물 – TQ RX LC-MS/MS 발암성 불순물 정량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원소 불순물 (ICH Q3D) – EDX 비파괴 24종 원소 정량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잔류 용매 – HS-GC-FID/MS (JP18/USP 규격)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단일클론항체(mAb) – LCMS-9030 Q-TOF PTM 분석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당쇄 분석 (Glycan) – EZGlyco Kit + LC-MS/MS 신속 동정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올리고뉴클레오타이드 – 핵산 치료제 순도·서열 확인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백신 품질 시험 – 생산 공정 안전성 검증 솔루션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사르탄 아지도 불순물 – 규제 기준 충족 정량 분석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2331720"/>
            <a:ext cx="0" cy="17830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055A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453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기기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54480" y="4663440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45312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 RX (LC-MS/MS), LCMS-9030 Q-TOF, EDX, HS-GC-FID/MS, HPLC, UV-Vis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식품 / 음료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6583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73152" cy="64008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298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식품의약품안전처 기준 기반 정밀 분석. 잔류농약 다성분 동시 스크리닝, 중금속·영양성분·식품첨가물 분석으로 식품 안전 전 과정 대응.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응용 분야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잔류농약 276종 – GC-MS/MS + LC-MS/MS 동시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DIA-MS/MS – 정성·정량 통합 농약 분석 효율 극대화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중금속(비소·셀레늄) – HG-AAS 곡류 내 미량 측정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수용성·지용성 비타민 – HPLC 고속 동시 분석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식품첨가물 – 보존료·색소·감미료 HPLC 정밀 정량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아미노산·당류 – 식품 성분 분석 솔루션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TOC/TN 측정 – 식품 폐기물 메탄 발효 평가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 용수 안전 – UV-Vis 수질 항목 측정 프로그램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2331720"/>
            <a:ext cx="0" cy="17830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453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기기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54480" y="4663440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45312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GC-MS/MS, LC-MS/MS, HPLC, ICP-MS, HG-AAS, TOC 분석기, UV-Vis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화장품 / 퍼스널 케어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6583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 &amp; Personal Care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298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Beauty·Cruelty-Free 글로벌 트렌드에 대응하는 성분 안전성 분석. PFAS 검출, 자외선 차단제 품질관리, 동물 대체 시험법까지 지원.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응용 분야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PFAS/PFOS 검출 – LC-MS/MS 화장품 매트릭스 정밀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자외선차단제 품질 – ICP-AES로 TiO₂·ZnO 함량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색소 성분 동정 – MALDI-8030 Negative Mode 신속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향료 성분 분석 – Smart Aroma DB + GC 원산지 검증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피부 감작성 평가 – 동물 대체 시험법 (반응성 분석)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HPLC 초고속 주입 – 6.7초 간격, 기기 상태 자동 점검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원료 순도 확인 – HPLC·GCMS 성분 정량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규제 대응 – EU·북미 수출용 PFAS 성분 리포트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2331720"/>
            <a:ext cx="0" cy="17830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453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기기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54480" y="4663440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45312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LC-MS/MS, ICP-AES, MALDI-8030, GC (Smart Aroma DB), HPLC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A65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산업 소재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6583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Materials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73152" cy="640080"/>
          </a:xfrm>
          <a:prstGeom prst="rect">
            <a:avLst/>
          </a:prstGeom>
          <a:solidFill>
            <a:srgbClr val="1A659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298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자동차·항공·건설 등 제조업 기반 재료의 물리적·화학적 특성 평가. UTM 기계 시험부터 나노 표면분석·비파괴 X선 CT까지 전방위 솔루션.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5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응용 분야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인장·압축·굽힘 – AGX-V UTM (변형률 제어, 국제 규격)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마이크로 압축 – MCT 시리즈 (세라믹·반도체 범프)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나노 표면 분석 – SPM-Nanoa AFM (박막 거칠기·나노 구조)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비파괴 내부 검사 – SMX-225CTHR X선 CT (균열 확인)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고분자 분자량 – Shim-pack GPC + HPLC 분자량 분포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원소 조성 – EDX 비파괴 재료 품질 관리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광학 특성 – 분광광도계 + ISR-1503 헤이즈 측정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충격 거동 – 고속 비디오 + X선 CT 실시간 관찰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2331720"/>
            <a:ext cx="0" cy="17830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659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453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기기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54480" y="4663440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45312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AGX-V (UTM), MCT 시리즈, SPM-Nanoa (AFM), SMX-225CTHR (X선 CT), EDX, HPLC (GPC)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2차 전지 (LiB)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6583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Battery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73152" cy="64008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298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리튬이온 배터리 소재 R&amp;D부터 안전성 시험까지 토털 솔루션. 양극재 가수 변화 분석, 전해액 분해 가스 측정, 셀 물리적 안전 시험 완비.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응용 분야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양극재 화학 상태 – Xspecia (Mn·Co·Ni 가수 변화 분석)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음극재 표면 전위 – 대기 비폭로 충전 상태 평가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전해액 분해 가스 – GC로 H₂·CO·CO₂·탄화수소 동시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전해액 성분 – 이온 크로마토그래피 분해 생성물 분석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내부 구조 – 마이크로포커스 X선 CT 비파괴 검사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압착·관통·충격 – UTM 실사고 환경 모의 안전 시험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분리막 강도 – 고온 환경 관통·인장 강도 변화 측정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슬러리 품질 – iSpect DIA-10 거대 입자 검출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2331720"/>
            <a:ext cx="0" cy="17830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453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기기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54480" y="4663440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45312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Xspecia (XPS), GC, 이온 크로마토그래피, X선 마이크로CT, UTM (AGX-V), iSpect DIA-10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전자 / 기기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6583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Devices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73152" cy="6400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298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반도체·디스플레이 소재 정밀 분석 및 RoHS/REACH 환경 규제 대응. OLED 재료 불순물 분석, 화합물 반도체 밴드갭 측정, 유해물질 스크리닝.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응용 분야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재료 불순물 – LCMS-2050 고속 미량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밴드갭 측정 – 확산 반사 스펙트럼 (차세대 전력 반도체)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중금속 스크리닝 – ED-XRF 비파괴 Pb·Hg·Cd 즉시 측정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브롬계 난연제 – GCMS High mass tune (PBBs·PBDEs)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프탈레이트 가소제 – Py-GCMS 19종 동시 정량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염소계 난연제 – Py-GCMS TCEP·TDCPP 유해물질 확인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RoHS/ELV 대응 – 부품·완제품 내 유해물질 컴플라이언스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SVHC – 수출 규제 준수 성분 분석 리포트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2331720"/>
            <a:ext cx="0" cy="17830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453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기기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54480" y="4663440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45312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LCMS-2050, ED-XRF, GCMS (High mass tune), Py-GCMS, UV-Vis (확산반사)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화학 제품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6583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Products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73152" cy="64008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298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기초화학~정밀화학 전 공정 대응. DPiMS 실시간 반응 모니터링, 고분자 첨가제 정량, 석유제품 황 함량 분석, 보석 원산지 감정까지.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43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응용 분야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반응 모니터링 – DPiMS-2020 PESI 직접 샘플링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중간체 추적 – 0.1분 단위 질량 변화 모니터링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고분자 첨가제 – HPLC·GC-MS 산화방지제·UV흡수제 정량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알코올 함량 – GC (USP 규격), FTIR 1분 Pass/Fail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석유제품 황 함량 – Nexis GC-2030 + FPD 검출기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플라스틱 가소제 – GPC 분자량 분포 및 첨가제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보석·귀금속 감정 – EDX-8100 원소 지문 천연/합성 구분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산업용 화학물질 – 순도 및 규제 성분 정량 분석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2331720"/>
            <a:ext cx="0" cy="17830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453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기기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54480" y="4663440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45312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DPiMS-2020, HPLC, GC-MS, Nexis GC-2030 (FPD), FTIR, EDX-8100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라이프 사이언스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6583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640080"/>
          </a:xfrm>
          <a:prstGeom prst="rect">
            <a:avLst/>
          </a:prstGeom>
          <a:solidFill>
            <a:srgbClr val="E8EEF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73152" cy="64008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298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유전체·단백질체·대사체 멀티 오믹스 플랫폼 구축. 대사 맵핑 자동 시각화, 뇌 기능 fNIRS 이미징, 분자 이미징 기술로 생명과학 연구 가속화.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66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응용 분야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317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대사체학 – LC-MS 데이터 → Metabolic Map 자동 시각화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단백질체학 – Multi-omics 패키지 정량 변화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fNIRS 뇌 기능 이미징 – 비침습 혈류 변화·인지 상태 분석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적외라만 현미경 – 생체 조직 분자 구조 이미징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대사 산물 경로 분석 – 신약 효능 평가·질병 마커 발굴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단백질 PTM 분석 – 번역 후 변형 정밀 동정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심리 분석 – fNIRS 감정 상태 비침습 측정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재활 의학 – 뇌 기능 모니터링 임상 응용 연구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26280" y="2331720"/>
            <a:ext cx="0" cy="178308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E665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44531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기기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54480" y="4663440"/>
            <a:ext cx="0" cy="256032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45312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LC-MS (멀티오믹스), fNIRS 뇌기능 이미징 장비, 적외라만 현미경, GCMS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0055A5">
              <a:alpha val="15000"/>
            </a:srgbClr>
          </a:solidFill>
          <a:ln w="12700">
            <a:solidFill>
              <a:srgbClr val="0055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0AEEF">
              <a:alpha val="10000"/>
            </a:srgbClr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E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결론 및 핵심 가치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Shimadzu 통합 분석 솔루션이 제시하는 미래 산업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4114800" cy="1143000"/>
          </a:xfrm>
          <a:prstGeom prst="rect">
            <a:avLst/>
          </a:prstGeom>
          <a:solidFill>
            <a:srgbClr val="0055A5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417320"/>
            <a:ext cx="73152" cy="114300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규제 선제 대응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" y="18928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ICH·GMP·RoHS·EPA 등 국제 규제 충족 분석 워크플로우 제공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4114800" cy="1143000"/>
          </a:xfrm>
          <a:prstGeom prst="rect">
            <a:avLst/>
          </a:prstGeom>
          <a:solidFill>
            <a:srgbClr val="0055A5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17320"/>
            <a:ext cx="73152" cy="114300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3" name="Text 11"/>
          <p:cNvSpPr/>
          <p:nvPr/>
        </p:nvSpPr>
        <p:spPr>
          <a:xfrm>
            <a:off x="5010912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산업 간 기술 시너지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10912" y="18928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PFAS 기술 → 제약 불순물, 소재 강도 평가 → 배터리 안전 설계 상호 적용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4114800" cy="1143000"/>
          </a:xfrm>
          <a:prstGeom prst="rect">
            <a:avLst/>
          </a:prstGeom>
          <a:solidFill>
            <a:srgbClr val="0055A5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788920"/>
            <a:ext cx="73152" cy="114300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디지털 전환(DX)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2644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LabSolutions + AI 기반 Peakintelligence 피크 적분으로 실험실 자동화 실현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788920"/>
            <a:ext cx="4114800" cy="1143000"/>
          </a:xfrm>
          <a:prstGeom prst="rect">
            <a:avLst/>
          </a:prstGeom>
          <a:solidFill>
            <a:srgbClr val="0055A5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788920"/>
            <a:ext cx="73152" cy="114300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전국 7개 기술 지원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10912" y="32644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신속 AS 및 전문 교육 프로그램으로 국내 산업계의 기술 파트너 역할 수행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55A5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681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www.shimadzu.co.kr  |  ⓒ 2025 Shimadzu Corporation. All rights reserved.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시마즈 응용 분야 종합 안내</dc:title>
  <dc:subject>PptxGenJS Presentation</dc:subject>
  <dc:creator>PptxGenJS</dc:creator>
  <cp:lastModifiedBy>PptxGenJS</cp:lastModifiedBy>
  <cp:revision>1</cp:revision>
  <dcterms:created xsi:type="dcterms:W3CDTF">2026-05-06T00:57:47Z</dcterms:created>
  <dcterms:modified xsi:type="dcterms:W3CDTF">2026-05-06T00:57:47Z</dcterms:modified>
</cp:coreProperties>
</file>